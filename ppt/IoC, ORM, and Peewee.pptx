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6" r:id="rId1"/>
  </p:sldMasterIdLst>
  <p:sldIdLst>
    <p:sldId id="256" r:id="rId2"/>
    <p:sldId id="265" r:id="rId3"/>
    <p:sldId id="266" r:id="rId4"/>
    <p:sldId id="279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69" autoAdjust="0"/>
    <p:restoredTop sz="94756"/>
  </p:normalViewPr>
  <p:slideViewPr>
    <p:cSldViewPr snapToGrid="0">
      <p:cViewPr varScale="1">
        <p:scale>
          <a:sx n="65" d="100"/>
          <a:sy n="65" d="100"/>
        </p:scale>
        <p:origin x="208" y="1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8C76EB-EAF6-48C7-A7FD-0A6F169FCCA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DB9766-4E41-439A-A876-41085A4901A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 design principle where framework controls the flow, not you</a:t>
          </a:r>
          <a:endParaRPr lang="en-US"/>
        </a:p>
      </dgm:t>
    </dgm:pt>
    <dgm:pt modelId="{87CB5C2F-2C97-4932-B467-FD91CFBC76AD}" type="parTrans" cxnId="{CB2C306A-25F0-427A-8CBA-53F68A88E760}">
      <dgm:prSet/>
      <dgm:spPr/>
      <dgm:t>
        <a:bodyPr/>
        <a:lstStyle/>
        <a:p>
          <a:endParaRPr lang="en-US"/>
        </a:p>
      </dgm:t>
    </dgm:pt>
    <dgm:pt modelId="{56E452C2-6D9C-4E2D-AB88-B3767FF35226}" type="sibTrans" cxnId="{CB2C306A-25F0-427A-8CBA-53F68A88E760}">
      <dgm:prSet/>
      <dgm:spPr/>
      <dgm:t>
        <a:bodyPr/>
        <a:lstStyle/>
        <a:p>
          <a:endParaRPr lang="en-US"/>
        </a:p>
      </dgm:t>
    </dgm:pt>
    <dgm:pt modelId="{341BB4CB-CD23-4358-B3F3-E05184496D1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You write components, framework decides when they run</a:t>
          </a:r>
          <a:endParaRPr lang="en-US"/>
        </a:p>
      </dgm:t>
    </dgm:pt>
    <dgm:pt modelId="{BD602EC7-B776-4C50-ABC2-879A37CD3095}" type="parTrans" cxnId="{E7F51EBD-D804-4761-8006-395FAA8E1067}">
      <dgm:prSet/>
      <dgm:spPr/>
      <dgm:t>
        <a:bodyPr/>
        <a:lstStyle/>
        <a:p>
          <a:endParaRPr lang="en-US"/>
        </a:p>
      </dgm:t>
    </dgm:pt>
    <dgm:pt modelId="{E51626E2-267E-4D53-BEDF-582AA46D48BE}" type="sibTrans" cxnId="{E7F51EBD-D804-4761-8006-395FAA8E1067}">
      <dgm:prSet/>
      <dgm:spPr/>
      <dgm:t>
        <a:bodyPr/>
        <a:lstStyle/>
        <a:p>
          <a:endParaRPr lang="en-US"/>
        </a:p>
      </dgm:t>
    </dgm:pt>
    <dgm:pt modelId="{24C728D0-94DD-4060-B90A-8C614558EDD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Example:</a:t>
          </a:r>
          <a:endParaRPr lang="en-US"/>
        </a:p>
      </dgm:t>
    </dgm:pt>
    <dgm:pt modelId="{93173674-52D8-4D2A-9D6F-2C23D934EB29}" type="parTrans" cxnId="{5E41F176-115A-4D5E-8256-85D957DE13C3}">
      <dgm:prSet/>
      <dgm:spPr/>
      <dgm:t>
        <a:bodyPr/>
        <a:lstStyle/>
        <a:p>
          <a:endParaRPr lang="en-US"/>
        </a:p>
      </dgm:t>
    </dgm:pt>
    <dgm:pt modelId="{EB158176-FD93-44EE-92BA-1269D2D14978}" type="sibTrans" cxnId="{5E41F176-115A-4D5E-8256-85D957DE13C3}">
      <dgm:prSet/>
      <dgm:spPr/>
      <dgm:t>
        <a:bodyPr/>
        <a:lstStyle/>
        <a:p>
          <a:endParaRPr lang="en-US"/>
        </a:p>
      </dgm:t>
    </dgm:pt>
    <dgm:pt modelId="{BA1FF627-D72D-4412-90B9-2D3C7B2AE80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Django calls your view functions</a:t>
          </a:r>
          <a:endParaRPr lang="en-US"/>
        </a:p>
      </dgm:t>
    </dgm:pt>
    <dgm:pt modelId="{4035910A-D739-4D8D-A49E-13B8BCC41338}" type="parTrans" cxnId="{75628C8A-593A-43AA-A363-14AD6160CA1E}">
      <dgm:prSet/>
      <dgm:spPr/>
      <dgm:t>
        <a:bodyPr/>
        <a:lstStyle/>
        <a:p>
          <a:endParaRPr lang="en-US"/>
        </a:p>
      </dgm:t>
    </dgm:pt>
    <dgm:pt modelId="{AB391B42-7A66-46A7-BDFB-3E378865D5AA}" type="sibTrans" cxnId="{75628C8A-593A-43AA-A363-14AD6160CA1E}">
      <dgm:prSet/>
      <dgm:spPr/>
      <dgm:t>
        <a:bodyPr/>
        <a:lstStyle/>
        <a:p>
          <a:endParaRPr lang="en-US"/>
        </a:p>
      </dgm:t>
    </dgm:pt>
    <dgm:pt modelId="{6CCE6CE7-621C-421E-AFF0-D0782ED58D3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URL dispatcher triggers appropriate code</a:t>
          </a:r>
          <a:endParaRPr lang="en-US"/>
        </a:p>
      </dgm:t>
    </dgm:pt>
    <dgm:pt modelId="{B8C8DEB9-C25F-43A0-810A-7397535B8F0B}" type="parTrans" cxnId="{1E0C7AB4-F994-4D5D-9848-96D70C7D303B}">
      <dgm:prSet/>
      <dgm:spPr/>
      <dgm:t>
        <a:bodyPr/>
        <a:lstStyle/>
        <a:p>
          <a:endParaRPr lang="en-US"/>
        </a:p>
      </dgm:t>
    </dgm:pt>
    <dgm:pt modelId="{41DC8579-9847-4E8A-A2EE-2A7A3F3D2B08}" type="sibTrans" cxnId="{1E0C7AB4-F994-4D5D-9848-96D70C7D303B}">
      <dgm:prSet/>
      <dgm:spPr/>
      <dgm:t>
        <a:bodyPr/>
        <a:lstStyle/>
        <a:p>
          <a:endParaRPr lang="en-US"/>
        </a:p>
      </dgm:t>
    </dgm:pt>
    <dgm:pt modelId="{35E39C22-8ED8-41C7-B342-AA97FBF5BD79}" type="pres">
      <dgm:prSet presAssocID="{818C76EB-EAF6-48C7-A7FD-0A6F169FCCA2}" presName="root" presStyleCnt="0">
        <dgm:presLayoutVars>
          <dgm:dir/>
          <dgm:resizeHandles val="exact"/>
        </dgm:presLayoutVars>
      </dgm:prSet>
      <dgm:spPr/>
    </dgm:pt>
    <dgm:pt modelId="{7107412C-5859-4D38-99F6-2F25D33CB8A9}" type="pres">
      <dgm:prSet presAssocID="{76DB9766-4E41-439A-A876-41085A4901AE}" presName="compNode" presStyleCnt="0"/>
      <dgm:spPr/>
    </dgm:pt>
    <dgm:pt modelId="{07293FEF-A15D-4F9E-8FCE-B51045060EA6}" type="pres">
      <dgm:prSet presAssocID="{76DB9766-4E41-439A-A876-41085A4901AE}" presName="bgRect" presStyleLbl="bgShp" presStyleIdx="0" presStyleCnt="3"/>
      <dgm:spPr/>
    </dgm:pt>
    <dgm:pt modelId="{43610959-0799-4F9E-93D6-F544E2B753CE}" type="pres">
      <dgm:prSet presAssocID="{76DB9766-4E41-439A-A876-41085A4901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34AC00B5-4300-4B92-823B-55A010370781}" type="pres">
      <dgm:prSet presAssocID="{76DB9766-4E41-439A-A876-41085A4901AE}" presName="spaceRect" presStyleCnt="0"/>
      <dgm:spPr/>
    </dgm:pt>
    <dgm:pt modelId="{139EAB43-ECC2-47A2-836F-0025CFF80CF7}" type="pres">
      <dgm:prSet presAssocID="{76DB9766-4E41-439A-A876-41085A4901AE}" presName="parTx" presStyleLbl="revTx" presStyleIdx="0" presStyleCnt="4">
        <dgm:presLayoutVars>
          <dgm:chMax val="0"/>
          <dgm:chPref val="0"/>
        </dgm:presLayoutVars>
      </dgm:prSet>
      <dgm:spPr/>
    </dgm:pt>
    <dgm:pt modelId="{F69E19C6-487B-47E9-9AC6-9809F3C3716D}" type="pres">
      <dgm:prSet presAssocID="{56E452C2-6D9C-4E2D-AB88-B3767FF35226}" presName="sibTrans" presStyleCnt="0"/>
      <dgm:spPr/>
    </dgm:pt>
    <dgm:pt modelId="{FFF38282-53D8-41C2-BA28-8BB53F56963A}" type="pres">
      <dgm:prSet presAssocID="{341BB4CB-CD23-4358-B3F3-E05184496D19}" presName="compNode" presStyleCnt="0"/>
      <dgm:spPr/>
    </dgm:pt>
    <dgm:pt modelId="{6BCCC9C7-9B4B-4F6B-A90B-F50AF4710863}" type="pres">
      <dgm:prSet presAssocID="{341BB4CB-CD23-4358-B3F3-E05184496D19}" presName="bgRect" presStyleLbl="bgShp" presStyleIdx="1" presStyleCnt="3"/>
      <dgm:spPr/>
    </dgm:pt>
    <dgm:pt modelId="{8F097555-566E-4000-9453-0712D48E7750}" type="pres">
      <dgm:prSet presAssocID="{341BB4CB-CD23-4358-B3F3-E05184496D1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awl"/>
        </a:ext>
      </dgm:extLst>
    </dgm:pt>
    <dgm:pt modelId="{BFC39C7D-0070-4C37-9C3E-AC4561792444}" type="pres">
      <dgm:prSet presAssocID="{341BB4CB-CD23-4358-B3F3-E05184496D19}" presName="spaceRect" presStyleCnt="0"/>
      <dgm:spPr/>
    </dgm:pt>
    <dgm:pt modelId="{CC4F1B7E-8C3A-496D-8CAE-778F2DE7BB0F}" type="pres">
      <dgm:prSet presAssocID="{341BB4CB-CD23-4358-B3F3-E05184496D19}" presName="parTx" presStyleLbl="revTx" presStyleIdx="1" presStyleCnt="4">
        <dgm:presLayoutVars>
          <dgm:chMax val="0"/>
          <dgm:chPref val="0"/>
        </dgm:presLayoutVars>
      </dgm:prSet>
      <dgm:spPr/>
    </dgm:pt>
    <dgm:pt modelId="{79678C0E-5DF6-4FA4-A760-DC230C6C9782}" type="pres">
      <dgm:prSet presAssocID="{E51626E2-267E-4D53-BEDF-582AA46D48BE}" presName="sibTrans" presStyleCnt="0"/>
      <dgm:spPr/>
    </dgm:pt>
    <dgm:pt modelId="{0452787E-509A-4A87-A085-53808F9D12D6}" type="pres">
      <dgm:prSet presAssocID="{24C728D0-94DD-4060-B90A-8C614558EDDE}" presName="compNode" presStyleCnt="0"/>
      <dgm:spPr/>
    </dgm:pt>
    <dgm:pt modelId="{F856427C-BC1E-4512-9AFE-398D85C80BEA}" type="pres">
      <dgm:prSet presAssocID="{24C728D0-94DD-4060-B90A-8C614558EDDE}" presName="bgRect" presStyleLbl="bgShp" presStyleIdx="2" presStyleCnt="3"/>
      <dgm:spPr/>
    </dgm:pt>
    <dgm:pt modelId="{08F2CE14-8110-401D-BE75-F543F112141C}" type="pres">
      <dgm:prSet presAssocID="{24C728D0-94DD-4060-B90A-8C614558EDD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CE488B0-1626-461F-A5CA-3EB11678D3DA}" type="pres">
      <dgm:prSet presAssocID="{24C728D0-94DD-4060-B90A-8C614558EDDE}" presName="spaceRect" presStyleCnt="0"/>
      <dgm:spPr/>
    </dgm:pt>
    <dgm:pt modelId="{A3E4DD25-791D-44E7-811E-B9F074230F3B}" type="pres">
      <dgm:prSet presAssocID="{24C728D0-94DD-4060-B90A-8C614558EDDE}" presName="parTx" presStyleLbl="revTx" presStyleIdx="2" presStyleCnt="4">
        <dgm:presLayoutVars>
          <dgm:chMax val="0"/>
          <dgm:chPref val="0"/>
        </dgm:presLayoutVars>
      </dgm:prSet>
      <dgm:spPr/>
    </dgm:pt>
    <dgm:pt modelId="{4039ECA7-7DAB-4DCA-B107-4D4326158B5E}" type="pres">
      <dgm:prSet presAssocID="{24C728D0-94DD-4060-B90A-8C614558EDDE}" presName="desTx" presStyleLbl="revTx" presStyleIdx="3" presStyleCnt="4">
        <dgm:presLayoutVars/>
      </dgm:prSet>
      <dgm:spPr/>
    </dgm:pt>
  </dgm:ptLst>
  <dgm:cxnLst>
    <dgm:cxn modelId="{6E586D2F-1CE5-454F-A01E-07861E3D04EB}" type="presOf" srcId="{6CCE6CE7-621C-421E-AFF0-D0782ED58D3F}" destId="{4039ECA7-7DAB-4DCA-B107-4D4326158B5E}" srcOrd="0" destOrd="1" presId="urn:microsoft.com/office/officeart/2018/2/layout/IconVerticalSolidList"/>
    <dgm:cxn modelId="{49D80169-1A80-44E1-9261-2B2107DF7B25}" type="presOf" srcId="{24C728D0-94DD-4060-B90A-8C614558EDDE}" destId="{A3E4DD25-791D-44E7-811E-B9F074230F3B}" srcOrd="0" destOrd="0" presId="urn:microsoft.com/office/officeart/2018/2/layout/IconVerticalSolidList"/>
    <dgm:cxn modelId="{CB2C306A-25F0-427A-8CBA-53F68A88E760}" srcId="{818C76EB-EAF6-48C7-A7FD-0A6F169FCCA2}" destId="{76DB9766-4E41-439A-A876-41085A4901AE}" srcOrd="0" destOrd="0" parTransId="{87CB5C2F-2C97-4932-B467-FD91CFBC76AD}" sibTransId="{56E452C2-6D9C-4E2D-AB88-B3767FF35226}"/>
    <dgm:cxn modelId="{5E41F176-115A-4D5E-8256-85D957DE13C3}" srcId="{818C76EB-EAF6-48C7-A7FD-0A6F169FCCA2}" destId="{24C728D0-94DD-4060-B90A-8C614558EDDE}" srcOrd="2" destOrd="0" parTransId="{93173674-52D8-4D2A-9D6F-2C23D934EB29}" sibTransId="{EB158176-FD93-44EE-92BA-1269D2D14978}"/>
    <dgm:cxn modelId="{75628C8A-593A-43AA-A363-14AD6160CA1E}" srcId="{24C728D0-94DD-4060-B90A-8C614558EDDE}" destId="{BA1FF627-D72D-4412-90B9-2D3C7B2AE80C}" srcOrd="0" destOrd="0" parTransId="{4035910A-D739-4D8D-A49E-13B8BCC41338}" sibTransId="{AB391B42-7A66-46A7-BDFB-3E378865D5AA}"/>
    <dgm:cxn modelId="{29EC9E96-4892-42A3-8C42-F1082F4C6034}" type="presOf" srcId="{76DB9766-4E41-439A-A876-41085A4901AE}" destId="{139EAB43-ECC2-47A2-836F-0025CFF80CF7}" srcOrd="0" destOrd="0" presId="urn:microsoft.com/office/officeart/2018/2/layout/IconVerticalSolidList"/>
    <dgm:cxn modelId="{1E0C7AB4-F994-4D5D-9848-96D70C7D303B}" srcId="{24C728D0-94DD-4060-B90A-8C614558EDDE}" destId="{6CCE6CE7-621C-421E-AFF0-D0782ED58D3F}" srcOrd="1" destOrd="0" parTransId="{B8C8DEB9-C25F-43A0-810A-7397535B8F0B}" sibTransId="{41DC8579-9847-4E8A-A2EE-2A7A3F3D2B08}"/>
    <dgm:cxn modelId="{E7F51EBD-D804-4761-8006-395FAA8E1067}" srcId="{818C76EB-EAF6-48C7-A7FD-0A6F169FCCA2}" destId="{341BB4CB-CD23-4358-B3F3-E05184496D19}" srcOrd="1" destOrd="0" parTransId="{BD602EC7-B776-4C50-ABC2-879A37CD3095}" sibTransId="{E51626E2-267E-4D53-BEDF-582AA46D48BE}"/>
    <dgm:cxn modelId="{A364B4D0-61CE-43A7-A047-E7AA79C1F7C3}" type="presOf" srcId="{818C76EB-EAF6-48C7-A7FD-0A6F169FCCA2}" destId="{35E39C22-8ED8-41C7-B342-AA97FBF5BD79}" srcOrd="0" destOrd="0" presId="urn:microsoft.com/office/officeart/2018/2/layout/IconVerticalSolidList"/>
    <dgm:cxn modelId="{24E4CFE9-DF6D-48F9-8DB3-940A81939EC1}" type="presOf" srcId="{341BB4CB-CD23-4358-B3F3-E05184496D19}" destId="{CC4F1B7E-8C3A-496D-8CAE-778F2DE7BB0F}" srcOrd="0" destOrd="0" presId="urn:microsoft.com/office/officeart/2018/2/layout/IconVerticalSolidList"/>
    <dgm:cxn modelId="{086336EB-64C6-489C-8DF7-ACAEEF3ECE46}" type="presOf" srcId="{BA1FF627-D72D-4412-90B9-2D3C7B2AE80C}" destId="{4039ECA7-7DAB-4DCA-B107-4D4326158B5E}" srcOrd="0" destOrd="0" presId="urn:microsoft.com/office/officeart/2018/2/layout/IconVerticalSolidList"/>
    <dgm:cxn modelId="{4F2C02F5-75FD-445D-B2E1-5FDA3324BD71}" type="presParOf" srcId="{35E39C22-8ED8-41C7-B342-AA97FBF5BD79}" destId="{7107412C-5859-4D38-99F6-2F25D33CB8A9}" srcOrd="0" destOrd="0" presId="urn:microsoft.com/office/officeart/2018/2/layout/IconVerticalSolidList"/>
    <dgm:cxn modelId="{3562DBA1-EF6E-4919-A6C2-C7DA91452691}" type="presParOf" srcId="{7107412C-5859-4D38-99F6-2F25D33CB8A9}" destId="{07293FEF-A15D-4F9E-8FCE-B51045060EA6}" srcOrd="0" destOrd="0" presId="urn:microsoft.com/office/officeart/2018/2/layout/IconVerticalSolidList"/>
    <dgm:cxn modelId="{7D424065-1F76-4057-89A6-4171098AE37E}" type="presParOf" srcId="{7107412C-5859-4D38-99F6-2F25D33CB8A9}" destId="{43610959-0799-4F9E-93D6-F544E2B753CE}" srcOrd="1" destOrd="0" presId="urn:microsoft.com/office/officeart/2018/2/layout/IconVerticalSolidList"/>
    <dgm:cxn modelId="{52E165CC-7F61-4137-942A-407D66E67F35}" type="presParOf" srcId="{7107412C-5859-4D38-99F6-2F25D33CB8A9}" destId="{34AC00B5-4300-4B92-823B-55A010370781}" srcOrd="2" destOrd="0" presId="urn:microsoft.com/office/officeart/2018/2/layout/IconVerticalSolidList"/>
    <dgm:cxn modelId="{E0665A2F-B178-4618-B747-87E4F0C20E90}" type="presParOf" srcId="{7107412C-5859-4D38-99F6-2F25D33CB8A9}" destId="{139EAB43-ECC2-47A2-836F-0025CFF80CF7}" srcOrd="3" destOrd="0" presId="urn:microsoft.com/office/officeart/2018/2/layout/IconVerticalSolidList"/>
    <dgm:cxn modelId="{3D9CC0A2-29EF-466D-9566-35C010B3B4F9}" type="presParOf" srcId="{35E39C22-8ED8-41C7-B342-AA97FBF5BD79}" destId="{F69E19C6-487B-47E9-9AC6-9809F3C3716D}" srcOrd="1" destOrd="0" presId="urn:microsoft.com/office/officeart/2018/2/layout/IconVerticalSolidList"/>
    <dgm:cxn modelId="{A98D68DD-4DCC-4765-8E7F-73868129AE98}" type="presParOf" srcId="{35E39C22-8ED8-41C7-B342-AA97FBF5BD79}" destId="{FFF38282-53D8-41C2-BA28-8BB53F56963A}" srcOrd="2" destOrd="0" presId="urn:microsoft.com/office/officeart/2018/2/layout/IconVerticalSolidList"/>
    <dgm:cxn modelId="{EAA2486A-88F5-4FC5-A594-D0B23BDFC886}" type="presParOf" srcId="{FFF38282-53D8-41C2-BA28-8BB53F56963A}" destId="{6BCCC9C7-9B4B-4F6B-A90B-F50AF4710863}" srcOrd="0" destOrd="0" presId="urn:microsoft.com/office/officeart/2018/2/layout/IconVerticalSolidList"/>
    <dgm:cxn modelId="{3C471313-E5B8-44C9-ACD6-74F4129A79BE}" type="presParOf" srcId="{FFF38282-53D8-41C2-BA28-8BB53F56963A}" destId="{8F097555-566E-4000-9453-0712D48E7750}" srcOrd="1" destOrd="0" presId="urn:microsoft.com/office/officeart/2018/2/layout/IconVerticalSolidList"/>
    <dgm:cxn modelId="{633459B5-DABD-4B0F-9D5E-A333CD01E863}" type="presParOf" srcId="{FFF38282-53D8-41C2-BA28-8BB53F56963A}" destId="{BFC39C7D-0070-4C37-9C3E-AC4561792444}" srcOrd="2" destOrd="0" presId="urn:microsoft.com/office/officeart/2018/2/layout/IconVerticalSolidList"/>
    <dgm:cxn modelId="{A741049D-17F6-4002-A394-968164CFD5D4}" type="presParOf" srcId="{FFF38282-53D8-41C2-BA28-8BB53F56963A}" destId="{CC4F1B7E-8C3A-496D-8CAE-778F2DE7BB0F}" srcOrd="3" destOrd="0" presId="urn:microsoft.com/office/officeart/2018/2/layout/IconVerticalSolidList"/>
    <dgm:cxn modelId="{9F1FDA12-FF26-4703-A5A4-8B3E36175FC7}" type="presParOf" srcId="{35E39C22-8ED8-41C7-B342-AA97FBF5BD79}" destId="{79678C0E-5DF6-4FA4-A760-DC230C6C9782}" srcOrd="3" destOrd="0" presId="urn:microsoft.com/office/officeart/2018/2/layout/IconVerticalSolidList"/>
    <dgm:cxn modelId="{1EF37DFF-B2BD-47BC-A4BF-4B7ECB08B2E8}" type="presParOf" srcId="{35E39C22-8ED8-41C7-B342-AA97FBF5BD79}" destId="{0452787E-509A-4A87-A085-53808F9D12D6}" srcOrd="4" destOrd="0" presId="urn:microsoft.com/office/officeart/2018/2/layout/IconVerticalSolidList"/>
    <dgm:cxn modelId="{10085DA0-A679-4063-915A-BFF913C8DE88}" type="presParOf" srcId="{0452787E-509A-4A87-A085-53808F9D12D6}" destId="{F856427C-BC1E-4512-9AFE-398D85C80BEA}" srcOrd="0" destOrd="0" presId="urn:microsoft.com/office/officeart/2018/2/layout/IconVerticalSolidList"/>
    <dgm:cxn modelId="{E8F45633-E1F6-4ADA-86D6-ED6024560FD2}" type="presParOf" srcId="{0452787E-509A-4A87-A085-53808F9D12D6}" destId="{08F2CE14-8110-401D-BE75-F543F112141C}" srcOrd="1" destOrd="0" presId="urn:microsoft.com/office/officeart/2018/2/layout/IconVerticalSolidList"/>
    <dgm:cxn modelId="{1831B0BE-FEEF-4045-9E12-A69A72527635}" type="presParOf" srcId="{0452787E-509A-4A87-A085-53808F9D12D6}" destId="{2CE488B0-1626-461F-A5CA-3EB11678D3DA}" srcOrd="2" destOrd="0" presId="urn:microsoft.com/office/officeart/2018/2/layout/IconVerticalSolidList"/>
    <dgm:cxn modelId="{69B5A6FB-6363-4826-89D5-0827B8DF91B9}" type="presParOf" srcId="{0452787E-509A-4A87-A085-53808F9D12D6}" destId="{A3E4DD25-791D-44E7-811E-B9F074230F3B}" srcOrd="3" destOrd="0" presId="urn:microsoft.com/office/officeart/2018/2/layout/IconVerticalSolidList"/>
    <dgm:cxn modelId="{8364DC96-E3E1-4E17-B1B6-81F8D7FAA801}" type="presParOf" srcId="{0452787E-509A-4A87-A085-53808F9D12D6}" destId="{4039ECA7-7DAB-4DCA-B107-4D4326158B5E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293FEF-A15D-4F9E-8FCE-B51045060EA6}">
      <dsp:nvSpPr>
        <dsp:cNvPr id="0" name=""/>
        <dsp:cNvSpPr/>
      </dsp:nvSpPr>
      <dsp:spPr>
        <a:xfrm>
          <a:off x="0" y="417"/>
          <a:ext cx="10364452" cy="97807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610959-0799-4F9E-93D6-F544E2B753CE}">
      <dsp:nvSpPr>
        <dsp:cNvPr id="0" name=""/>
        <dsp:cNvSpPr/>
      </dsp:nvSpPr>
      <dsp:spPr>
        <a:xfrm>
          <a:off x="295868" y="220485"/>
          <a:ext cx="537942" cy="5379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9EAB43-ECC2-47A2-836F-0025CFF80CF7}">
      <dsp:nvSpPr>
        <dsp:cNvPr id="0" name=""/>
        <dsp:cNvSpPr/>
      </dsp:nvSpPr>
      <dsp:spPr>
        <a:xfrm>
          <a:off x="1129679" y="417"/>
          <a:ext cx="9234772" cy="978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13" tIns="103513" rIns="103513" bIns="10351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A design principle where framework controls the flow, not you</a:t>
          </a:r>
          <a:endParaRPr lang="en-US" sz="2500" kern="1200"/>
        </a:p>
      </dsp:txBody>
      <dsp:txXfrm>
        <a:off x="1129679" y="417"/>
        <a:ext cx="9234772" cy="978077"/>
      </dsp:txXfrm>
    </dsp:sp>
    <dsp:sp modelId="{6BCCC9C7-9B4B-4F6B-A90B-F50AF4710863}">
      <dsp:nvSpPr>
        <dsp:cNvPr id="0" name=""/>
        <dsp:cNvSpPr/>
      </dsp:nvSpPr>
      <dsp:spPr>
        <a:xfrm>
          <a:off x="0" y="1223014"/>
          <a:ext cx="10364452" cy="97807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097555-566E-4000-9453-0712D48E7750}">
      <dsp:nvSpPr>
        <dsp:cNvPr id="0" name=""/>
        <dsp:cNvSpPr/>
      </dsp:nvSpPr>
      <dsp:spPr>
        <a:xfrm>
          <a:off x="295868" y="1443082"/>
          <a:ext cx="537942" cy="5379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4F1B7E-8C3A-496D-8CAE-778F2DE7BB0F}">
      <dsp:nvSpPr>
        <dsp:cNvPr id="0" name=""/>
        <dsp:cNvSpPr/>
      </dsp:nvSpPr>
      <dsp:spPr>
        <a:xfrm>
          <a:off x="1129679" y="1223014"/>
          <a:ext cx="9234772" cy="978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13" tIns="103513" rIns="103513" bIns="10351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You write components, framework decides when they run</a:t>
          </a:r>
          <a:endParaRPr lang="en-US" sz="2500" kern="1200"/>
        </a:p>
      </dsp:txBody>
      <dsp:txXfrm>
        <a:off x="1129679" y="1223014"/>
        <a:ext cx="9234772" cy="978077"/>
      </dsp:txXfrm>
    </dsp:sp>
    <dsp:sp modelId="{F856427C-BC1E-4512-9AFE-398D85C80BEA}">
      <dsp:nvSpPr>
        <dsp:cNvPr id="0" name=""/>
        <dsp:cNvSpPr/>
      </dsp:nvSpPr>
      <dsp:spPr>
        <a:xfrm>
          <a:off x="0" y="2445611"/>
          <a:ext cx="10364452" cy="97807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F2CE14-8110-401D-BE75-F543F112141C}">
      <dsp:nvSpPr>
        <dsp:cNvPr id="0" name=""/>
        <dsp:cNvSpPr/>
      </dsp:nvSpPr>
      <dsp:spPr>
        <a:xfrm>
          <a:off x="295868" y="2665679"/>
          <a:ext cx="537942" cy="53794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E4DD25-791D-44E7-811E-B9F074230F3B}">
      <dsp:nvSpPr>
        <dsp:cNvPr id="0" name=""/>
        <dsp:cNvSpPr/>
      </dsp:nvSpPr>
      <dsp:spPr>
        <a:xfrm>
          <a:off x="1129679" y="2445611"/>
          <a:ext cx="4664003" cy="978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13" tIns="103513" rIns="103513" bIns="10351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Example:</a:t>
          </a:r>
          <a:endParaRPr lang="en-US" sz="2500" kern="1200"/>
        </a:p>
      </dsp:txBody>
      <dsp:txXfrm>
        <a:off x="1129679" y="2445611"/>
        <a:ext cx="4664003" cy="978077"/>
      </dsp:txXfrm>
    </dsp:sp>
    <dsp:sp modelId="{4039ECA7-7DAB-4DCA-B107-4D4326158B5E}">
      <dsp:nvSpPr>
        <dsp:cNvPr id="0" name=""/>
        <dsp:cNvSpPr/>
      </dsp:nvSpPr>
      <dsp:spPr>
        <a:xfrm>
          <a:off x="5793682" y="2445611"/>
          <a:ext cx="4570769" cy="978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13" tIns="103513" rIns="103513" bIns="10351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Django calls your view functions</a:t>
          </a:r>
          <a:endParaRPr lang="en-US" sz="1800" kern="1200"/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URL dispatcher triggers appropriate code</a:t>
          </a:r>
          <a:endParaRPr lang="en-US" sz="1800" kern="1200"/>
        </a:p>
      </dsp:txBody>
      <dsp:txXfrm>
        <a:off x="5793682" y="2445611"/>
        <a:ext cx="4570769" cy="9780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7D95B-3F43-0758-DF82-2600A238D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418F02-E163-7B7E-588A-69BE662E9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4D9B7-28B0-AF71-6C0B-C9780FBE9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7B1-2730-4E62-9EF2-77EBE3C482C6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DDF8D-19FE-C13E-7B81-B7697B70C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CED3C-1672-78FB-A908-BC28503B2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B1DD-4AB5-4BF7-92A5-9FC09DB869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036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3614C-0360-1D08-F40D-5EB641AF9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A9274-860D-F2E1-5EBC-EC6BD3F4E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B04A9-3DBC-53CA-F1B0-0F2D4E5B7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7B1-2730-4E62-9EF2-77EBE3C482C6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810AE-E294-855D-CB20-467C7F0CF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A4190-D466-9BE9-5C15-430BBD161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B1DD-4AB5-4BF7-92A5-9FC09DB869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647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9CCB5-B66E-37AF-9F5E-EC912BFEB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AEDC6-6508-DAEF-13A6-909F779CC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063E5-5BF8-E164-ACBD-72BBD6858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7B1-2730-4E62-9EF2-77EBE3C482C6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8040A-6FD1-8A4E-75D2-AC021A7EA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60AAC-711C-3A7A-E065-7AED1A54C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B1DD-4AB5-4BF7-92A5-9FC09DB869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493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C4A99-185F-0473-2D42-303665193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802F0-08F6-BAC1-4579-B81BCF60E7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912A1-961B-A076-BE6C-1131F8268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E262C-3476-E29C-2460-9DE88A55B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7B1-2730-4E62-9EF2-77EBE3C482C6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5AB14-60F0-6D06-CB7B-9D26A0C50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C4F78-3DB1-293E-0945-00470FC54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B1DD-4AB5-4BF7-92A5-9FC09DB869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564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FE128-BFA6-83F8-68EB-947A8C68F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92975-0D14-2D06-4F20-49EB11304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1C5865-C0A1-FEDC-B544-555EEAE4F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CABDD0-8577-5CAE-6072-4FB9915E7C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9A3E73-092A-E402-AC77-3218FB9CBD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6DA9C0-1B30-2CEF-5DC6-AC8A54F1D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7B1-2730-4E62-9EF2-77EBE3C482C6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12F6A4-EC15-49C2-8C50-21CC5B447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DA187C-3D06-3774-563C-282046FE2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B1DD-4AB5-4BF7-92A5-9FC09DB869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71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73AC-ACC0-CA54-A1E3-1720B0C5D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BD8C58-115E-D8DA-2C6D-7B3C39B07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7B1-2730-4E62-9EF2-77EBE3C482C6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F0ED18-B150-F1D1-2AE5-C841A1B9E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BB38B-A767-5FBB-1FB7-9A82EBB18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B1DD-4AB5-4BF7-92A5-9FC09DB869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6456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160378-8298-CB50-DC7B-F1A449D01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7B1-2730-4E62-9EF2-77EBE3C482C6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908520-CF75-8761-9377-BF2A28989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C3B7E-BD41-494E-02A0-8373E8949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B1DD-4AB5-4BF7-92A5-9FC09DB869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446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90ECA-355F-71A3-FE3A-8D7821739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C2843-6DD6-DE0B-E15D-37DA3EF16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AA9D7-D936-4557-F12E-9622304E8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C97922-25EA-5051-79BC-DF4D68D78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7B1-2730-4E62-9EF2-77EBE3C482C6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AD84E-3DBB-0B44-29A3-6258F3840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9271C-C0AC-8DE2-0C0C-FFDC140BF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B1DD-4AB5-4BF7-92A5-9FC09DB869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91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54E27-3CFE-E361-BA77-41A0E12BC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8B2CEC-557F-74ED-678F-F2AC1E9F30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A582BE-F458-F8BA-8F03-95DF2438D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DD764-E3DF-A80C-7390-D2307C57E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7B1-2730-4E62-9EF2-77EBE3C482C6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1570D-7E11-6EE1-3FF4-14C79402F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60CF8-61CF-436C-67AB-6C854AFF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B1DD-4AB5-4BF7-92A5-9FC09DB869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212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03488-8818-3BCC-70EA-D0E463CC3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6B65DE-0005-99D5-D705-F437F1A52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7D238-B2A8-9A33-EB99-A7A1E8F91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7B1-2730-4E62-9EF2-77EBE3C482C6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7BCAF-6AE0-1D9B-5C2F-7593B0E46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6D493-0E03-8BAC-08C7-324C61AF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B1DD-4AB5-4BF7-92A5-9FC09DB869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4070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D07036-2808-5DFB-77EB-5636BE7A4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6AB840-DB7E-ACAE-67A3-5C3E2EB9E5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4B2CF-BBEC-014D-4456-604C4913E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37B1-2730-4E62-9EF2-77EBE3C482C6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6806A-158E-03E9-E12F-0C9E01CE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BA4BC-3C06-AF38-2619-4F844AF3F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B1DD-4AB5-4BF7-92A5-9FC09DB869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034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798939-3FE5-5078-0360-A57800185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90E94-87A1-BD73-4940-19F46A660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192F6-A3F9-ADEF-FAB1-23A8BCC932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1D37B1-2730-4E62-9EF2-77EBE3C482C6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0272C-0B5F-2B43-F3F5-B5C17E3104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7110D-D07B-A2F6-4347-B3B4B3CA2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B1DD-4AB5-4BF7-92A5-9FC09DB869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1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7" r:id="rId1"/>
    <p:sldLayoutId id="2147484058" r:id="rId2"/>
    <p:sldLayoutId id="2147484059" r:id="rId3"/>
    <p:sldLayoutId id="2147484060" r:id="rId4"/>
    <p:sldLayoutId id="2147484061" r:id="rId5"/>
    <p:sldLayoutId id="2147484062" r:id="rId6"/>
    <p:sldLayoutId id="2147484063" r:id="rId7"/>
    <p:sldLayoutId id="2147484064" r:id="rId8"/>
    <p:sldLayoutId id="2147484065" r:id="rId9"/>
    <p:sldLayoutId id="2147484066" r:id="rId10"/>
    <p:sldLayoutId id="21474840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E07E-BC38-FAA1-B31A-B90A22029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1408" y="1590734"/>
            <a:ext cx="7405874" cy="2520012"/>
          </a:xfrm>
          <a:solidFill>
            <a:schemeClr val="bg2"/>
          </a:solidFill>
        </p:spPr>
        <p:txBody>
          <a:bodyPr anchor="ctr">
            <a:normAutofit/>
          </a:bodyPr>
          <a:lstStyle/>
          <a:p>
            <a:r>
              <a:rPr lang="en-GB" sz="6000" b="1">
                <a:solidFill>
                  <a:schemeClr val="tx2"/>
                </a:solidFill>
              </a:rPr>
              <a:t>IoC, ORM, and Peewee</a:t>
            </a:r>
            <a:endParaRPr lang="en-GB" sz="600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6D3372-CDF8-5A52-1902-4905B9EB6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79" y="4427183"/>
            <a:ext cx="7379502" cy="522928"/>
          </a:xfrm>
        </p:spPr>
        <p:txBody>
          <a:bodyPr>
            <a:normAutofit/>
          </a:bodyPr>
          <a:lstStyle/>
          <a:p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2741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5ADE-5271-4964-54FD-C1F5B52FF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Inversion of Control (IoC)</a:t>
            </a:r>
            <a:endParaRPr lang="en-GB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6847A6-310D-F978-6B53-56FAC311A6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3774" y="2214694"/>
          <a:ext cx="10364452" cy="3424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2068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5A32-9954-6900-9B9D-374991A3A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Without IOC : Tightly Coupled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113118-F6BA-0719-95A4-8FC59624277F}"/>
              </a:ext>
            </a:extLst>
          </p:cNvPr>
          <p:cNvSpPr txBox="1"/>
          <p:nvPr/>
        </p:nvSpPr>
        <p:spPr>
          <a:xfrm>
            <a:off x="1517651" y="1917973"/>
            <a:ext cx="610023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class EmailService:</a:t>
            </a:r>
          </a:p>
          <a:p>
            <a:r>
              <a:rPr lang="en-US"/>
              <a:t>    def send(self, message):</a:t>
            </a:r>
          </a:p>
          <a:p>
            <a:r>
              <a:rPr lang="en-US"/>
              <a:t>        print("Sending Email:", message)</a:t>
            </a:r>
          </a:p>
          <a:p>
            <a:endParaRPr lang="en-US"/>
          </a:p>
          <a:p>
            <a:r>
              <a:rPr lang="en-US"/>
              <a:t>class Notification:</a:t>
            </a:r>
          </a:p>
          <a:p>
            <a:r>
              <a:rPr lang="en-US"/>
              <a:t>    def __init__(self):</a:t>
            </a:r>
          </a:p>
          <a:p>
            <a:r>
              <a:rPr lang="en-US"/>
              <a:t>        self.service = EmailService()  # tightly coupled</a:t>
            </a:r>
          </a:p>
          <a:p>
            <a:endParaRPr lang="en-US"/>
          </a:p>
          <a:p>
            <a:r>
              <a:rPr lang="en-US"/>
              <a:t>    def notify(self, msg):</a:t>
            </a:r>
          </a:p>
          <a:p>
            <a:r>
              <a:rPr lang="en-US"/>
              <a:t>        self.service.send(msg)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n = Notification()</a:t>
            </a:r>
          </a:p>
          <a:p>
            <a:r>
              <a:rPr lang="en-US"/>
              <a:t>n.notify("Hello")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472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CF0A5-BE61-4DA4-77A0-3E772A331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738" y="307214"/>
            <a:ext cx="9520158" cy="1049235"/>
          </a:xfrm>
        </p:spPr>
        <p:txBody>
          <a:bodyPr/>
          <a:lstStyle/>
          <a:p>
            <a:r>
              <a:rPr lang="en-US" dirty="0"/>
              <a:t>With IOC: Loosely coupled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66CE28-6A33-2CCB-1849-5F771660BD08}"/>
              </a:ext>
            </a:extLst>
          </p:cNvPr>
          <p:cNvSpPr txBox="1"/>
          <p:nvPr/>
        </p:nvSpPr>
        <p:spPr>
          <a:xfrm>
            <a:off x="914349" y="1215026"/>
            <a:ext cx="952015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class </a:t>
            </a:r>
            <a:r>
              <a:rPr lang="en-US" sz="1200" dirty="0" err="1"/>
              <a:t>EmailService</a:t>
            </a:r>
            <a:r>
              <a:rPr lang="en-US" sz="1200" dirty="0"/>
              <a:t>:</a:t>
            </a:r>
          </a:p>
          <a:p>
            <a:r>
              <a:rPr lang="en-US" sz="1200" dirty="0"/>
              <a:t>    def send(self, message):</a:t>
            </a:r>
          </a:p>
          <a:p>
            <a:r>
              <a:rPr lang="en-US" sz="1200" dirty="0"/>
              <a:t>        print("Sending Email:", message)</a:t>
            </a:r>
          </a:p>
          <a:p>
            <a:endParaRPr lang="en-US" sz="1200" dirty="0"/>
          </a:p>
          <a:p>
            <a:r>
              <a:rPr lang="en-US" sz="1200" dirty="0"/>
              <a:t>class </a:t>
            </a:r>
            <a:r>
              <a:rPr lang="en-US" sz="1200" dirty="0" err="1"/>
              <a:t>SMSService</a:t>
            </a:r>
            <a:r>
              <a:rPr lang="en-US" sz="1200" dirty="0"/>
              <a:t>:</a:t>
            </a:r>
          </a:p>
          <a:p>
            <a:r>
              <a:rPr lang="en-US" sz="1200" dirty="0"/>
              <a:t>    def send(self, message):</a:t>
            </a:r>
          </a:p>
          <a:p>
            <a:r>
              <a:rPr lang="en-US" sz="1200" dirty="0"/>
              <a:t>        print("Sending SMS:", message)</a:t>
            </a:r>
          </a:p>
          <a:p>
            <a:endParaRPr lang="en-US" sz="1200" dirty="0"/>
          </a:p>
          <a:p>
            <a:r>
              <a:rPr lang="en-US" sz="1200" dirty="0"/>
              <a:t>class Notification:</a:t>
            </a:r>
          </a:p>
          <a:p>
            <a:r>
              <a:rPr lang="en-US" sz="1200" dirty="0"/>
              <a:t>    def __</a:t>
            </a:r>
            <a:r>
              <a:rPr lang="en-US" sz="1200" dirty="0" err="1"/>
              <a:t>init</a:t>
            </a:r>
            <a:r>
              <a:rPr lang="en-US" sz="1200" dirty="0"/>
              <a:t>__(self, service):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self.service</a:t>
            </a:r>
            <a:r>
              <a:rPr lang="en-US" sz="1200" dirty="0"/>
              <a:t> = service  # injected dependency</a:t>
            </a:r>
          </a:p>
          <a:p>
            <a:endParaRPr lang="en-US" sz="1200" dirty="0"/>
          </a:p>
          <a:p>
            <a:r>
              <a:rPr lang="en-US" sz="1200" dirty="0"/>
              <a:t>    def notify(self, msg):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self.service.send</a:t>
            </a:r>
            <a:r>
              <a:rPr lang="en-US" sz="1200" dirty="0"/>
              <a:t>(msg)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# Inject different services (IoC). The dependency is created outside the class</a:t>
            </a:r>
          </a:p>
          <a:p>
            <a:r>
              <a:rPr lang="en-US" sz="1200" dirty="0" err="1"/>
              <a:t>email_service</a:t>
            </a:r>
            <a:r>
              <a:rPr lang="en-US" sz="1200" dirty="0"/>
              <a:t> = </a:t>
            </a:r>
            <a:r>
              <a:rPr lang="en-US" sz="1200" dirty="0" err="1"/>
              <a:t>EmailService</a:t>
            </a:r>
            <a:r>
              <a:rPr lang="en-US" sz="1200" dirty="0"/>
              <a:t>()</a:t>
            </a:r>
          </a:p>
          <a:p>
            <a:r>
              <a:rPr lang="en-US" sz="1200" dirty="0" err="1"/>
              <a:t>sms_service</a:t>
            </a:r>
            <a:r>
              <a:rPr lang="en-US" sz="1200" dirty="0"/>
              <a:t> = </a:t>
            </a:r>
            <a:r>
              <a:rPr lang="en-US" sz="1200" dirty="0" err="1"/>
              <a:t>SMSService</a:t>
            </a:r>
            <a:r>
              <a:rPr lang="en-US" sz="1200" dirty="0"/>
              <a:t>()</a:t>
            </a:r>
          </a:p>
          <a:p>
            <a:endParaRPr lang="en-US" sz="1200" dirty="0"/>
          </a:p>
          <a:p>
            <a:r>
              <a:rPr lang="en-US" sz="1200" dirty="0"/>
              <a:t>n1 = Notification(</a:t>
            </a:r>
            <a:r>
              <a:rPr lang="en-US" sz="1200" dirty="0" err="1"/>
              <a:t>email_service</a:t>
            </a:r>
            <a:r>
              <a:rPr lang="en-US" sz="1200" dirty="0"/>
              <a:t>) </a:t>
            </a:r>
          </a:p>
          <a:p>
            <a:r>
              <a:rPr lang="en-US" sz="1200" dirty="0"/>
              <a:t>n1.notify("Hello via Email")</a:t>
            </a:r>
          </a:p>
          <a:p>
            <a:endParaRPr lang="en-US" sz="1200" dirty="0"/>
          </a:p>
          <a:p>
            <a:r>
              <a:rPr lang="en-US" sz="1200" dirty="0"/>
              <a:t>n2 = Notification(</a:t>
            </a:r>
            <a:r>
              <a:rPr lang="en-US" sz="1200" dirty="0" err="1"/>
              <a:t>sms_service</a:t>
            </a:r>
            <a:r>
              <a:rPr lang="en-US" sz="1200" dirty="0"/>
              <a:t>)</a:t>
            </a:r>
          </a:p>
          <a:p>
            <a:r>
              <a:rPr lang="en-US" sz="1200" dirty="0"/>
              <a:t>n2.notify("Hello via SMS")</a:t>
            </a:r>
          </a:p>
        </p:txBody>
      </p:sp>
    </p:spTree>
    <p:extLst>
      <p:ext uri="{BB962C8B-B14F-4D97-AF65-F5344CB8AC3E}">
        <p14:creationId xmlns:p14="http://schemas.microsoft.com/office/powerpoint/2010/main" val="2156116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D0496-AB77-D5F9-E311-B241F2A5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Dependency Injection (DI)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92CCC-D85E-0EDE-8E35-4C6EA6FE1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form of IoC</a:t>
            </a:r>
          </a:p>
          <a:p>
            <a:r>
              <a:rPr lang="en-GB" dirty="0"/>
              <a:t>Provides dependencies automatically</a:t>
            </a:r>
          </a:p>
          <a:p>
            <a:r>
              <a:rPr lang="en-GB" dirty="0"/>
              <a:t>Promotes modular and testable code</a:t>
            </a:r>
          </a:p>
          <a:p>
            <a:r>
              <a:rPr lang="en-GB" dirty="0"/>
              <a:t>Used heavily in modern frameworks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525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C2D01-5A16-B278-ABA6-6B94BD93B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an ORM?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4B786-3104-4FFC-9E67-D06171D16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Object-Relational Mapper</a:t>
            </a:r>
          </a:p>
          <a:p>
            <a:r>
              <a:rPr lang="en-GB" dirty="0"/>
              <a:t>Converts database tables ↔ Python objects</a:t>
            </a:r>
          </a:p>
          <a:p>
            <a:r>
              <a:rPr lang="en-GB" dirty="0"/>
              <a:t>Avoids writing SQL manually</a:t>
            </a:r>
          </a:p>
          <a:p>
            <a:r>
              <a:rPr lang="en-GB" dirty="0"/>
              <a:t>Examples: </a:t>
            </a:r>
          </a:p>
          <a:p>
            <a:pPr lvl="1"/>
            <a:r>
              <a:rPr lang="en-GB" dirty="0"/>
              <a:t>Django ORM</a:t>
            </a:r>
          </a:p>
          <a:p>
            <a:pPr lvl="1"/>
            <a:r>
              <a:rPr lang="en-GB" dirty="0" err="1"/>
              <a:t>SQLAlchemy</a:t>
            </a:r>
            <a:endParaRPr lang="en-GB" dirty="0"/>
          </a:p>
          <a:p>
            <a:pPr lvl="1"/>
            <a:r>
              <a:rPr lang="en-GB" dirty="0"/>
              <a:t>Peewee</a:t>
            </a:r>
          </a:p>
        </p:txBody>
      </p:sp>
    </p:spTree>
    <p:extLst>
      <p:ext uri="{BB962C8B-B14F-4D97-AF65-F5344CB8AC3E}">
        <p14:creationId xmlns:p14="http://schemas.microsoft.com/office/powerpoint/2010/main" val="4060639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3A979-2D44-49B4-DF3B-6F1DF4B7D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Benefits of 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63E3B-5C12-9285-9B44-64292D471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Cleaner code</a:t>
            </a:r>
          </a:p>
          <a:p>
            <a:r>
              <a:rPr lang="en-GB" dirty="0"/>
              <a:t>Database independence</a:t>
            </a:r>
          </a:p>
          <a:p>
            <a:r>
              <a:rPr lang="en-GB" dirty="0"/>
              <a:t>Prevents SQL injection</a:t>
            </a:r>
          </a:p>
          <a:p>
            <a:r>
              <a:rPr lang="en-GB" dirty="0"/>
              <a:t>Easier migrations</a:t>
            </a:r>
          </a:p>
          <a:p>
            <a:r>
              <a:rPr lang="en-GB" dirty="0"/>
              <a:t>More productive development</a:t>
            </a:r>
          </a:p>
        </p:txBody>
      </p:sp>
    </p:spTree>
    <p:extLst>
      <p:ext uri="{BB962C8B-B14F-4D97-AF65-F5344CB8AC3E}">
        <p14:creationId xmlns:p14="http://schemas.microsoft.com/office/powerpoint/2010/main" val="3579566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E6546-221B-0CB1-557F-104F67531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Database Migrations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EF39-8284-705F-3D17-2CACB2D1A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Version control for your database</a:t>
            </a:r>
          </a:p>
          <a:p>
            <a:r>
              <a:rPr lang="en-GB" dirty="0"/>
              <a:t>Let’s you:</a:t>
            </a:r>
          </a:p>
          <a:p>
            <a:pPr lvl="1"/>
            <a:r>
              <a:rPr lang="en-GB" dirty="0"/>
              <a:t>Create tables</a:t>
            </a:r>
          </a:p>
          <a:p>
            <a:pPr lvl="1"/>
            <a:r>
              <a:rPr lang="en-GB" dirty="0"/>
              <a:t>Update schemas</a:t>
            </a:r>
          </a:p>
          <a:p>
            <a:pPr lvl="1"/>
            <a:r>
              <a:rPr lang="en-GB" dirty="0"/>
              <a:t>Add/remove columns</a:t>
            </a:r>
          </a:p>
          <a:p>
            <a:r>
              <a:rPr lang="en-GB" dirty="0"/>
              <a:t>Avoids manually editing databases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808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40911-B682-881F-CCF9-890640F65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Popular Migration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491F8-F3A4-A980-4E7A-2622573FF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Django Migrations</a:t>
            </a:r>
          </a:p>
          <a:p>
            <a:r>
              <a:rPr lang="en-GB" dirty="0"/>
              <a:t>Alembic (</a:t>
            </a:r>
            <a:r>
              <a:rPr lang="en-GB" dirty="0" err="1"/>
              <a:t>SQLAlchemy</a:t>
            </a:r>
            <a:r>
              <a:rPr lang="en-GB" dirty="0"/>
              <a:t>)</a:t>
            </a:r>
          </a:p>
          <a:p>
            <a:r>
              <a:rPr lang="en-GB" dirty="0"/>
              <a:t>Peewee-Migrate (for Peewee)</a:t>
            </a:r>
          </a:p>
          <a:p>
            <a:r>
              <a:rPr lang="en-GB" dirty="0"/>
              <a:t>Autogenerated OR user-written migrations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421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287C-0676-6CC7-2BA3-61A9EAEB2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Peewee ORM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12D04-A781-ADE9-6D60-1806D164C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Lightweight, fast ORM for Python</a:t>
            </a:r>
          </a:p>
          <a:p>
            <a:r>
              <a:rPr lang="en-GB" dirty="0"/>
              <a:t>Works with:</a:t>
            </a:r>
          </a:p>
          <a:p>
            <a:pPr lvl="1"/>
            <a:r>
              <a:rPr lang="en-GB" dirty="0"/>
              <a:t>SQLite</a:t>
            </a:r>
          </a:p>
          <a:p>
            <a:pPr lvl="1"/>
            <a:r>
              <a:rPr lang="en-GB" dirty="0"/>
              <a:t>MySQL</a:t>
            </a:r>
          </a:p>
          <a:p>
            <a:pPr lvl="1"/>
            <a:r>
              <a:rPr lang="en-GB" dirty="0"/>
              <a:t>PostgreSQL</a:t>
            </a:r>
          </a:p>
          <a:p>
            <a:r>
              <a:rPr lang="en-GB" dirty="0"/>
              <a:t>Good for small-to-medium applications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8044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829CB-EAF2-AF22-B91E-2EE37824E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Peewee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B5278-B66A-09D7-47CC-96153C7BD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Simple model definitions</a:t>
            </a:r>
          </a:p>
          <a:p>
            <a:r>
              <a:rPr lang="en-GB" dirty="0"/>
              <a:t>Query building</a:t>
            </a:r>
          </a:p>
          <a:p>
            <a:r>
              <a:rPr lang="en-GB" dirty="0"/>
              <a:t>Relationships</a:t>
            </a:r>
          </a:p>
          <a:p>
            <a:r>
              <a:rPr lang="en-GB" dirty="0"/>
              <a:t>Migrations (via peewee-migrate)</a:t>
            </a:r>
          </a:p>
          <a:p>
            <a:r>
              <a:rPr lang="en-GB" dirty="0"/>
              <a:t>Transaction support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7581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4F3FE-1A53-D3A7-077A-E60CCD0E2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Peewee Model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8355-DF92-51D1-8534-4E6C8F053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class User(</a:t>
            </a:r>
            <a:r>
              <a:rPr lang="en-GB" dirty="0" err="1"/>
              <a:t>BaseModel</a:t>
            </a:r>
            <a:r>
              <a:rPr lang="en-GB" dirty="0"/>
              <a:t>):</a:t>
            </a:r>
          </a:p>
          <a:p>
            <a:pPr marL="0" indent="0">
              <a:buNone/>
            </a:pPr>
            <a:r>
              <a:rPr lang="en-GB" dirty="0"/>
              <a:t>    name = </a:t>
            </a:r>
            <a:r>
              <a:rPr lang="en-GB" dirty="0" err="1"/>
              <a:t>CharField</a:t>
            </a:r>
            <a:r>
              <a:rPr lang="en-GB" dirty="0"/>
              <a:t>()</a:t>
            </a:r>
          </a:p>
          <a:p>
            <a:pPr marL="0" indent="0">
              <a:buNone/>
            </a:pPr>
            <a:r>
              <a:rPr lang="en-GB" dirty="0"/>
              <a:t>    email = </a:t>
            </a:r>
            <a:r>
              <a:rPr lang="en-GB" dirty="0" err="1"/>
              <a:t>CharField</a:t>
            </a:r>
            <a:r>
              <a:rPr lang="en-GB" dirty="0"/>
              <a:t>()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5193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ED1C-87B3-F5FC-81AA-44B125799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Peewee CRUD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04AA3-05D8-529B-8D83-51E21D47F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Create: </a:t>
            </a:r>
            <a:r>
              <a:rPr lang="en-GB" dirty="0" err="1"/>
              <a:t>User.create</a:t>
            </a:r>
            <a:r>
              <a:rPr lang="en-GB" dirty="0"/>
              <a:t>(name="Alice")</a:t>
            </a:r>
          </a:p>
          <a:p>
            <a:r>
              <a:rPr lang="en-GB" dirty="0"/>
              <a:t>Read: </a:t>
            </a:r>
            <a:r>
              <a:rPr lang="en-GB" dirty="0" err="1"/>
              <a:t>User.select</a:t>
            </a:r>
            <a:r>
              <a:rPr lang="en-GB" dirty="0"/>
              <a:t>()</a:t>
            </a:r>
          </a:p>
          <a:p>
            <a:r>
              <a:rPr lang="en-GB" dirty="0"/>
              <a:t>Update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User.update</a:t>
            </a:r>
            <a:r>
              <a:rPr lang="en-GB" dirty="0"/>
              <a:t>(name="Bob")</a:t>
            </a:r>
          </a:p>
          <a:p>
            <a:r>
              <a:rPr lang="en-GB" dirty="0"/>
              <a:t>Delete: </a:t>
            </a:r>
            <a:r>
              <a:rPr lang="en-GB" dirty="0" err="1"/>
              <a:t>User.delete</a:t>
            </a:r>
            <a:r>
              <a:rPr lang="en-GB" dirty="0"/>
              <a:t>().where(User.id == 1)</a:t>
            </a:r>
          </a:p>
        </p:txBody>
      </p:sp>
    </p:spTree>
    <p:extLst>
      <p:ext uri="{BB962C8B-B14F-4D97-AF65-F5344CB8AC3E}">
        <p14:creationId xmlns:p14="http://schemas.microsoft.com/office/powerpoint/2010/main" val="3805922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5050E-A4F9-182A-A6FF-8E6B99E58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SQLite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F2A8B-6FF4-27BD-F762-F21735415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Lightweight, file-based database</a:t>
            </a:r>
          </a:p>
          <a:p>
            <a:r>
              <a:rPr lang="en-GB" dirty="0"/>
              <a:t>No server required</a:t>
            </a:r>
          </a:p>
          <a:p>
            <a:r>
              <a:rPr lang="en-GB" dirty="0"/>
              <a:t>Ideal for: </a:t>
            </a:r>
          </a:p>
          <a:p>
            <a:pPr lvl="1"/>
            <a:r>
              <a:rPr lang="en-GB" dirty="0"/>
              <a:t>Development</a:t>
            </a:r>
          </a:p>
          <a:p>
            <a:pPr lvl="1"/>
            <a:r>
              <a:rPr lang="en-GB" dirty="0"/>
              <a:t>Small applications</a:t>
            </a:r>
          </a:p>
          <a:p>
            <a:pPr lvl="1"/>
            <a:r>
              <a:rPr lang="en-GB" dirty="0"/>
              <a:t>Local storage</a:t>
            </a:r>
          </a:p>
          <a:p>
            <a:r>
              <a:rPr lang="en-GB" dirty="0"/>
              <a:t>Extremely widely supported</a:t>
            </a:r>
          </a:p>
        </p:txBody>
      </p:sp>
    </p:spTree>
    <p:extLst>
      <p:ext uri="{BB962C8B-B14F-4D97-AF65-F5344CB8AC3E}">
        <p14:creationId xmlns:p14="http://schemas.microsoft.com/office/powerpoint/2010/main" val="988067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B408C-273A-8585-5FFD-01F1A70D3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SQLite for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84C48-863F-D285-242C-A7843F1DE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Zero configuration</a:t>
            </a:r>
          </a:p>
          <a:p>
            <a:r>
              <a:rPr lang="en-GB" dirty="0"/>
              <a:t>Easy to inspect</a:t>
            </a:r>
          </a:p>
          <a:p>
            <a:r>
              <a:rPr lang="en-GB" dirty="0"/>
              <a:t>Portable (single file)</a:t>
            </a:r>
          </a:p>
          <a:p>
            <a:r>
              <a:rPr lang="en-GB" dirty="0"/>
              <a:t>Works seamlessly with ORMs</a:t>
            </a:r>
          </a:p>
        </p:txBody>
      </p:sp>
    </p:spTree>
    <p:extLst>
      <p:ext uri="{BB962C8B-B14F-4D97-AF65-F5344CB8AC3E}">
        <p14:creationId xmlns:p14="http://schemas.microsoft.com/office/powerpoint/2010/main" val="850272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C5C37-2152-19B6-9308-642BCA056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73B67-F81E-2A68-2BB5-5EA860B6F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Django = Full-stack web framework using MVT</a:t>
            </a:r>
          </a:p>
          <a:p>
            <a:r>
              <a:rPr lang="en-GB" dirty="0"/>
              <a:t>IoC = Framework manages flow</a:t>
            </a:r>
          </a:p>
          <a:p>
            <a:r>
              <a:rPr lang="en-GB" dirty="0"/>
              <a:t>ORM = Database abstraction</a:t>
            </a:r>
          </a:p>
          <a:p>
            <a:r>
              <a:rPr lang="en-GB" dirty="0"/>
              <a:t>Peewee = Lightweight Python ORM</a:t>
            </a:r>
          </a:p>
          <a:p>
            <a:r>
              <a:rPr lang="en-GB" dirty="0"/>
              <a:t>Migrations = Database version control</a:t>
            </a:r>
          </a:p>
          <a:p>
            <a:r>
              <a:rPr lang="en-GB" dirty="0"/>
              <a:t>SQLite = Simple database for learning</a:t>
            </a:r>
          </a:p>
        </p:txBody>
      </p:sp>
    </p:spTree>
    <p:extLst>
      <p:ext uri="{BB962C8B-B14F-4D97-AF65-F5344CB8AC3E}">
        <p14:creationId xmlns:p14="http://schemas.microsoft.com/office/powerpoint/2010/main" val="3091106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521</Words>
  <Application>Microsoft Macintosh PowerPoint</Application>
  <PresentationFormat>Widescreen</PresentationFormat>
  <Paragraphs>121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IoC, ORM, and Peewee</vt:lpstr>
      <vt:lpstr>Inversion of Control (IoC)</vt:lpstr>
      <vt:lpstr>Without IOC : Tightly Coupled</vt:lpstr>
      <vt:lpstr>With IOC: Loosely coupled</vt:lpstr>
      <vt:lpstr>Dependency Injection (DI)</vt:lpstr>
      <vt:lpstr>What Is an ORM?</vt:lpstr>
      <vt:lpstr>Benefits of ORMs</vt:lpstr>
      <vt:lpstr>Database Migrations</vt:lpstr>
      <vt:lpstr>Popular Migration Tools</vt:lpstr>
      <vt:lpstr>Peewee ORM Overview</vt:lpstr>
      <vt:lpstr>Peewee Features</vt:lpstr>
      <vt:lpstr>Peewee Model Example</vt:lpstr>
      <vt:lpstr>Peewee CRUD operations</vt:lpstr>
      <vt:lpstr>SQLite Overview</vt:lpstr>
      <vt:lpstr>Why SQLite for Learning?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Sushant  Singh Basnet</dc:creator>
  <cp:lastModifiedBy>Prashant Singh Basnet</cp:lastModifiedBy>
  <cp:revision>5</cp:revision>
  <dcterms:created xsi:type="dcterms:W3CDTF">2025-11-15T13:25:41Z</dcterms:created>
  <dcterms:modified xsi:type="dcterms:W3CDTF">2025-11-22T17:17:33Z</dcterms:modified>
</cp:coreProperties>
</file>